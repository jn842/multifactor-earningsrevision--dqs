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61" r:id="rId4"/>
    <p:sldId id="258" r:id="rId5"/>
    <p:sldId id="257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97972440944882"/>
          <c:y val="0.20461046969669847"/>
          <c:w val="0.50040563484251965"/>
          <c:h val="0.75060840608954194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-</c:v>
                </c:pt>
              </c:strCache>
            </c:strRef>
          </c:tx>
          <c:spPr>
            <a:ln w="317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Earnings Revision</c:v>
                </c:pt>
                <c:pt idx="1">
                  <c:v>Momentum</c:v>
                </c:pt>
                <c:pt idx="2">
                  <c:v>Valuation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E5-4AD3-9388-F23FE73F0B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3081520"/>
        <c:axId val="333082240"/>
      </c:radarChart>
      <c:catAx>
        <c:axId val="33308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082240"/>
        <c:crosses val="autoZero"/>
        <c:auto val="1"/>
        <c:lblAlgn val="ctr"/>
        <c:lblOffset val="100"/>
        <c:noMultiLvlLbl val="0"/>
      </c:catAx>
      <c:valAx>
        <c:axId val="3330822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3308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73C37-D41E-4A18-B487-542193DEA96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E1DF1-4982-42B6-BF1A-FBD486E2D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E1DF1-4982-42B6-BF1A-FBD486E2D1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31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55F2-FD59-C7D6-52FE-4C60658DE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9FD64-30A2-B9C9-326F-E9B501FC8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749E1-45C7-DF60-D172-6A2B09AC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8F0F5-0CAA-7255-9AC0-E9A94C275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0652-F712-0844-C46D-FDC7EA12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0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59E0-5F1F-5B99-5E5B-CAD0EB2C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15EF5-B99E-312C-F7AA-0F7604B8D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B517-1C0D-FC7E-2B8C-6090560D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A2B48-E0C9-C8D7-B5CE-357187C1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D23-1655-F8A1-1EB5-2B9B33D0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6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A93C-3CED-3953-FF07-B48DC120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1B653-C056-6DC1-4CA9-7EAFE70E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C1A23-65B9-4860-2B38-C200963B1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11E6D-9212-679E-6F53-A4FC06F4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018B-99A5-982B-A414-3261F399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3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A0AA-9007-FF84-5C33-0D2E9A3E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3C8FC-8A62-01F5-D693-A0DC2A29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9762C-CA20-5986-ADFC-31FEA6652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B25AB-4D2F-D22D-6B98-C3110D18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FE90C-B26E-2860-0804-132AAB7E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FB3B7-F7AC-D2B0-C9E7-FA0D834D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6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C455-C667-AA0E-6049-52518914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9178B-1F04-B5CE-0E32-2E0AB6F57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B7E81-E3FB-F102-3E90-040DE76C1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E8393-31A7-3761-057D-7EB930E36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9316A-F460-8B39-3D60-F1ED195A6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67123-8F88-6514-73CD-D8F5DC95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C1961-1B37-4ABC-AB82-1410664B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4B85B-0FD0-88C6-5BB6-EB32E3F5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4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5BAD-931D-7509-0791-E8BF631D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FACA9-5ADB-F984-8C9E-93CF7C06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73E83-9D27-D15E-FC1D-D9B8D060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D9C15-F4F9-8499-461A-D9809698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9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87422-4C1F-49E4-B7C5-0ACCE0E5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0A398-934F-285C-FBA8-05B51974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349A0-C8B9-95DA-482A-81DD09B9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9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1498-DFEC-765A-6F03-4E30952C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01FD-D326-4BEF-F9DD-23D3CCF32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6CECD-005F-D986-E783-0B8FF2FBA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FDBA4-9A54-BDA0-1BF1-74395BEF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0D474-FD6F-527A-D085-73F5AAAA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F6247-D55D-574D-781D-D6D6D28F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95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2100-F4CC-71AE-3596-9B7DB564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AEBEA-B6AC-F9C0-29AA-C09D29245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66A82-14AD-594E-685D-32D7C4E9C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8BEDC-37CD-0818-BDE6-B901A3AA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E109-631F-0DC3-2A39-17C9BB17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F6DF3-749C-F7E3-A6D6-2A61B75A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7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166D-C55A-0BEB-4240-A46FCA74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3F681-DDCD-3247-9054-E809262D1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0975-6634-0C76-F7B7-3B97F6D0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04A48-FB5A-2A49-07B6-FD39B5D4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851A7-F940-7393-B87B-5B6AEF50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0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752A1-36DD-170A-2C8B-C5C78254E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30799-E423-91EE-C8F8-E08FE830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651C-1F9F-C8DC-52F4-9D929D96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D4D8-F605-2DDA-4D08-5AB628CA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E2DC7-55CA-A468-A701-2016EAFF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5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83932-E407-B472-102B-4F648BBA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04708-0C71-0A34-77C5-639DC487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6B84E-0AED-6786-AB61-FA6F7D165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A0229-37E7-4827-9448-9A114D74C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0478A-B6D2-B707-403B-1252786FD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01BAA-22F8-B992-7550-1EB86B629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B6C39-78FD-403B-BA92-3A030CEC6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7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86113D-BDD0-4E28-110C-ECDAAE371A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1CBFF9-9DBB-A723-1BA6-623491037953}"/>
              </a:ext>
            </a:extLst>
          </p:cNvPr>
          <p:cNvSpPr/>
          <p:nvPr/>
        </p:nvSpPr>
        <p:spPr>
          <a:xfrm>
            <a:off x="1266825" y="1263650"/>
            <a:ext cx="9658350" cy="4330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45330-9A17-828E-F1EF-F6234DC0535C}"/>
              </a:ext>
            </a:extLst>
          </p:cNvPr>
          <p:cNvSpPr txBox="1"/>
          <p:nvPr/>
        </p:nvSpPr>
        <p:spPr>
          <a:xfrm>
            <a:off x="1911350" y="1720998"/>
            <a:ext cx="8369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Multi-Factor Earnings Revision-Based Model (ER Model)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8F38A48-6B14-6E22-6C56-F4AFC6388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5319104"/>
              </p:ext>
            </p:extLst>
          </p:nvPr>
        </p:nvGraphicFramePr>
        <p:xfrm>
          <a:off x="924333" y="2742133"/>
          <a:ext cx="8898087" cy="290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F7E558F8-5751-9724-56C4-A14048CC8FEE}"/>
              </a:ext>
            </a:extLst>
          </p:cNvPr>
          <p:cNvGrpSpPr/>
          <p:nvPr/>
        </p:nvGrpSpPr>
        <p:grpSpPr>
          <a:xfrm>
            <a:off x="7802792" y="3949700"/>
            <a:ext cx="2477858" cy="1015663"/>
            <a:chOff x="8348892" y="5684561"/>
            <a:chExt cx="2477858" cy="10156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8EE20F-B144-BCF4-FB4B-EC48B1648BAC}"/>
                </a:ext>
              </a:extLst>
            </p:cNvPr>
            <p:cNvSpPr txBox="1"/>
            <p:nvPr/>
          </p:nvSpPr>
          <p:spPr>
            <a:xfrm>
              <a:off x="8348892" y="5684561"/>
              <a:ext cx="2477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Presented by</a:t>
              </a:r>
            </a:p>
            <a:p>
              <a:r>
                <a:rPr lang="en-US" b="1" dirty="0"/>
                <a:t>Jetnipat Nipatkusolkit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8DF75F-B924-97DE-E088-D867914DA885}"/>
                </a:ext>
              </a:extLst>
            </p:cNvPr>
            <p:cNvSpPr txBox="1"/>
            <p:nvPr/>
          </p:nvSpPr>
          <p:spPr>
            <a:xfrm>
              <a:off x="9416428" y="6330892"/>
              <a:ext cx="1410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 Nov 2025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4E431-AF69-CB57-2524-C5237127A213}"/>
              </a:ext>
            </a:extLst>
          </p:cNvPr>
          <p:cNvSpPr/>
          <p:nvPr/>
        </p:nvSpPr>
        <p:spPr>
          <a:xfrm>
            <a:off x="1266825" y="4723333"/>
            <a:ext cx="91440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DECAD-DCB3-6E81-09DF-C2227283E7C2}"/>
              </a:ext>
            </a:extLst>
          </p:cNvPr>
          <p:cNvSpPr txBox="1"/>
          <p:nvPr/>
        </p:nvSpPr>
        <p:spPr>
          <a:xfrm>
            <a:off x="1988289" y="2358242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DQS 2025</a:t>
            </a:r>
          </a:p>
        </p:txBody>
      </p:sp>
    </p:spTree>
    <p:extLst>
      <p:ext uri="{BB962C8B-B14F-4D97-AF65-F5344CB8AC3E}">
        <p14:creationId xmlns:p14="http://schemas.microsoft.com/office/powerpoint/2010/main" val="1601552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F3CA47-3A65-02EA-5BB7-47C091588781}"/>
              </a:ext>
            </a:extLst>
          </p:cNvPr>
          <p:cNvSpPr txBox="1"/>
          <p:nvPr/>
        </p:nvSpPr>
        <p:spPr>
          <a:xfrm>
            <a:off x="5829300" y="5341965"/>
            <a:ext cx="66468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this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Contributions in the Portfolio are from S&amp;P 500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Equal-Weighted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Rebalanced Every 3 Months (excluding dividends, fees)</a:t>
            </a:r>
            <a:endParaRPr lang="th-TH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5D3D7-6E05-ACA1-DDB6-2A7B95108D92}"/>
              </a:ext>
            </a:extLst>
          </p:cNvPr>
          <p:cNvSpPr txBox="1"/>
          <p:nvPr/>
        </p:nvSpPr>
        <p:spPr>
          <a:xfrm>
            <a:off x="557882" y="1053899"/>
            <a:ext cx="503445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Developed from Oppenheimer’s factor model</a:t>
            </a:r>
          </a:p>
          <a:p>
            <a:r>
              <a:rPr lang="en-US" dirty="0"/>
              <a:t>Consists of 6 factors </a:t>
            </a:r>
            <a:r>
              <a:rPr lang="th-TH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Earnings Revision </a:t>
            </a:r>
            <a:r>
              <a:rPr lang="en-US" dirty="0"/>
              <a:t>(50%)</a:t>
            </a:r>
          </a:p>
          <a:p>
            <a:r>
              <a:rPr lang="en-US" dirty="0"/>
              <a:t>       -     Revision Breadth (30%)</a:t>
            </a:r>
          </a:p>
          <a:p>
            <a:r>
              <a:rPr lang="en-US" dirty="0"/>
              <a:t>       -     Revision Magnitude (20%)</a:t>
            </a:r>
            <a:endParaRPr lang="th-T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Price Momentum and Mean reversion </a:t>
            </a:r>
            <a:r>
              <a:rPr lang="en-US" dirty="0"/>
              <a:t>(30%) </a:t>
            </a:r>
          </a:p>
          <a:p>
            <a:r>
              <a:rPr lang="en-US" dirty="0"/>
              <a:t>       -     Alpha (20%)</a:t>
            </a:r>
          </a:p>
          <a:p>
            <a:r>
              <a:rPr lang="en-US" dirty="0"/>
              <a:t>       -    1-month Return (10%) </a:t>
            </a:r>
            <a:endParaRPr lang="th-T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Valuation</a:t>
            </a:r>
            <a:r>
              <a:rPr lang="en-US" dirty="0"/>
              <a:t> (20%)</a:t>
            </a:r>
          </a:p>
          <a:p>
            <a:r>
              <a:rPr lang="en-US" dirty="0"/>
              <a:t>       -     Absolute Forward P/E (10%)</a:t>
            </a:r>
          </a:p>
          <a:p>
            <a:r>
              <a:rPr lang="en-US" dirty="0"/>
              <a:t>       -     Relative Forward P/E (10%)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EED6C-37AA-A442-F159-11FD31694EFA}"/>
              </a:ext>
            </a:extLst>
          </p:cNvPr>
          <p:cNvSpPr txBox="1"/>
          <p:nvPr/>
        </p:nvSpPr>
        <p:spPr>
          <a:xfrm>
            <a:off x="5829300" y="1049262"/>
            <a:ext cx="6210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rely on Earnings Revision 50%  (especially breadth) ?</a:t>
            </a:r>
          </a:p>
          <a:p>
            <a:pPr marL="285750" indent="-285750">
              <a:buFontTx/>
              <a:buChar char="-"/>
            </a:pPr>
            <a:r>
              <a:rPr lang="en-US" dirty="0"/>
              <a:t>Sentiment + Fundamental in single factor.</a:t>
            </a:r>
          </a:p>
          <a:p>
            <a:pPr marL="285750" indent="-285750">
              <a:buFontTx/>
              <a:buChar char="-"/>
            </a:pPr>
            <a:r>
              <a:rPr lang="en-US" dirty="0"/>
              <a:t>Analyst tends to gradually adjust earnings instead of single big change (so EPS Revision is moving in a trend).</a:t>
            </a:r>
          </a:p>
          <a:p>
            <a:pPr marL="285750" indent="-285750">
              <a:buFontTx/>
              <a:buChar char="-"/>
            </a:pPr>
            <a:r>
              <a:rPr lang="en-US" dirty="0"/>
              <a:t>Analysts have herd behavior &amp; career risk, and likely to use the same company information, turned out tend to move in the same direction.</a:t>
            </a:r>
          </a:p>
          <a:p>
            <a:pPr marL="285750" indent="-285750">
              <a:buFontTx/>
              <a:buChar char="-"/>
            </a:pPr>
            <a:r>
              <a:rPr lang="en-US" dirty="0"/>
              <a:t>So, Earnings Revision breadth weight should &gt; Magnitude.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Earnings Revision is not enough, due to lagging.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29C23-308B-510B-F7D2-38F9D4D4AF09}"/>
              </a:ext>
            </a:extLst>
          </p:cNvPr>
          <p:cNvSpPr txBox="1"/>
          <p:nvPr/>
        </p:nvSpPr>
        <p:spPr>
          <a:xfrm>
            <a:off x="557882" y="4602529"/>
            <a:ext cx="4047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Tool/Language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Bloomberg Query Language (Excel)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67A48-DCAB-09DF-7929-146DE0445071}"/>
              </a:ext>
            </a:extLst>
          </p:cNvPr>
          <p:cNvSpPr txBox="1"/>
          <p:nvPr/>
        </p:nvSpPr>
        <p:spPr>
          <a:xfrm>
            <a:off x="543476" y="5612749"/>
            <a:ext cx="4269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Universe</a:t>
            </a:r>
            <a:r>
              <a:rPr lang="en-US" dirty="0"/>
              <a:t>: S&amp;P 500 Members which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Cap at least $200 millions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 =3 Analysts covering this stock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D1BB07-220E-6BB5-1092-AF80474D7F3D}"/>
              </a:ext>
            </a:extLst>
          </p:cNvPr>
          <p:cNvSpPr txBox="1"/>
          <p:nvPr/>
        </p:nvSpPr>
        <p:spPr>
          <a:xfrm>
            <a:off x="5829300" y="3654744"/>
            <a:ext cx="6540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Momentum/Mean reversion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Timing entry,</a:t>
            </a:r>
            <a:r>
              <a:rPr lang="th-TH" dirty="0"/>
              <a:t> </a:t>
            </a:r>
            <a:r>
              <a:rPr lang="en-US" dirty="0"/>
              <a:t>find short-term mispricing.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lag signal to the model.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1734B6-92D8-3552-F98D-B0E2A2424505}"/>
              </a:ext>
            </a:extLst>
          </p:cNvPr>
          <p:cNvCxnSpPr/>
          <p:nvPr/>
        </p:nvCxnSpPr>
        <p:spPr>
          <a:xfrm>
            <a:off x="543476" y="4473840"/>
            <a:ext cx="454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B5BDC4-7E9F-4DD4-7378-8BF7C42C196F}"/>
              </a:ext>
            </a:extLst>
          </p:cNvPr>
          <p:cNvGrpSpPr/>
          <p:nvPr/>
        </p:nvGrpSpPr>
        <p:grpSpPr>
          <a:xfrm>
            <a:off x="545182" y="144796"/>
            <a:ext cx="6646828" cy="663143"/>
            <a:chOff x="672182" y="631186"/>
            <a:chExt cx="6646828" cy="6631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C7098E-C122-A195-C3CE-179CCB4C7A2E}"/>
                </a:ext>
              </a:extLst>
            </p:cNvPr>
            <p:cNvSpPr txBox="1"/>
            <p:nvPr/>
          </p:nvSpPr>
          <p:spPr>
            <a:xfrm>
              <a:off x="672182" y="631186"/>
              <a:ext cx="6646828" cy="6250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000" b="1" dirty="0"/>
                <a:t>Multi-Factor Earnings Revision-Based Model (ER Model)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6B0319-0A60-4C29-60BC-50DAFA802E21}"/>
                </a:ext>
              </a:extLst>
            </p:cNvPr>
            <p:cNvCxnSpPr>
              <a:cxnSpLocks/>
            </p:cNvCxnSpPr>
            <p:nvPr/>
          </p:nvCxnSpPr>
          <p:spPr>
            <a:xfrm>
              <a:off x="774700" y="1294329"/>
              <a:ext cx="6324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E8D4524-284D-751E-2939-63E4B4485379}"/>
              </a:ext>
            </a:extLst>
          </p:cNvPr>
          <p:cNvSpPr txBox="1"/>
          <p:nvPr/>
        </p:nvSpPr>
        <p:spPr>
          <a:xfrm>
            <a:off x="5829300" y="4647552"/>
            <a:ext cx="631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Valuation</a:t>
            </a:r>
            <a:r>
              <a:rPr lang="en-US" dirty="0"/>
              <a:t>: Downside Protection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E5B72A-1FBC-AA7A-D14C-03BB81BADA42}"/>
              </a:ext>
            </a:extLst>
          </p:cNvPr>
          <p:cNvCxnSpPr>
            <a:cxnSpLocks/>
          </p:cNvCxnSpPr>
          <p:nvPr/>
        </p:nvCxnSpPr>
        <p:spPr>
          <a:xfrm>
            <a:off x="5829300" y="5159640"/>
            <a:ext cx="5930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BCBD56-D0CC-8970-CC68-7BE2742D4C31}"/>
              </a:ext>
            </a:extLst>
          </p:cNvPr>
          <p:cNvCxnSpPr>
            <a:cxnSpLocks/>
          </p:cNvCxnSpPr>
          <p:nvPr/>
        </p:nvCxnSpPr>
        <p:spPr>
          <a:xfrm>
            <a:off x="5578027" y="1061962"/>
            <a:ext cx="0" cy="5389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48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ECEB49-3577-5276-3020-5479F6FE8653}"/>
              </a:ext>
            </a:extLst>
          </p:cNvPr>
          <p:cNvSpPr txBox="1"/>
          <p:nvPr/>
        </p:nvSpPr>
        <p:spPr>
          <a:xfrm>
            <a:off x="1619597" y="3960900"/>
            <a:ext cx="3111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P/E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6B7A1-24F5-C0A0-E936-E1264446118C}"/>
              </a:ext>
            </a:extLst>
          </p:cNvPr>
          <p:cNvSpPr txBox="1"/>
          <p:nvPr/>
        </p:nvSpPr>
        <p:spPr>
          <a:xfrm>
            <a:off x="601699" y="847963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90747-1526-5068-03A4-5D85D88876D9}"/>
              </a:ext>
            </a:extLst>
          </p:cNvPr>
          <p:cNvSpPr txBox="1"/>
          <p:nvPr/>
        </p:nvSpPr>
        <p:spPr>
          <a:xfrm>
            <a:off x="727855" y="1520453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64D28-E8D7-91B3-F0F0-8A73F1B0EF33}"/>
              </a:ext>
            </a:extLst>
          </p:cNvPr>
          <p:cNvSpPr txBox="1"/>
          <p:nvPr/>
        </p:nvSpPr>
        <p:spPr>
          <a:xfrm>
            <a:off x="727855" y="2142379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1E7B4-29FB-E0A7-30A6-830DB4C5A901}"/>
              </a:ext>
            </a:extLst>
          </p:cNvPr>
          <p:cNvSpPr txBox="1"/>
          <p:nvPr/>
        </p:nvSpPr>
        <p:spPr>
          <a:xfrm>
            <a:off x="727855" y="2759433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00034-2B66-0698-1AD1-91CA02EFAE61}"/>
              </a:ext>
            </a:extLst>
          </p:cNvPr>
          <p:cNvSpPr txBox="1"/>
          <p:nvPr/>
        </p:nvSpPr>
        <p:spPr>
          <a:xfrm>
            <a:off x="727855" y="336585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84B88-2E41-D624-4B69-5C8BC7207D5D}"/>
              </a:ext>
            </a:extLst>
          </p:cNvPr>
          <p:cNvSpPr txBox="1"/>
          <p:nvPr/>
        </p:nvSpPr>
        <p:spPr>
          <a:xfrm>
            <a:off x="727855" y="397227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45341-455C-83E8-029A-2B64D047CF5A}"/>
              </a:ext>
            </a:extLst>
          </p:cNvPr>
          <p:cNvSpPr txBox="1"/>
          <p:nvPr/>
        </p:nvSpPr>
        <p:spPr>
          <a:xfrm>
            <a:off x="727855" y="455743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369DD-6733-2D26-54A6-71B279BF3417}"/>
              </a:ext>
            </a:extLst>
          </p:cNvPr>
          <p:cNvSpPr txBox="1"/>
          <p:nvPr/>
        </p:nvSpPr>
        <p:spPr>
          <a:xfrm>
            <a:off x="1626686" y="1498658"/>
            <a:ext cx="186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Revision Breadth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086DE-86A0-CDB7-F043-DF3D05AA544B}"/>
              </a:ext>
            </a:extLst>
          </p:cNvPr>
          <p:cNvSpPr txBox="1"/>
          <p:nvPr/>
        </p:nvSpPr>
        <p:spPr>
          <a:xfrm>
            <a:off x="1626685" y="2130694"/>
            <a:ext cx="3358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Revision Magnitude </a:t>
            </a:r>
            <a:r>
              <a:rPr lang="en-US" dirty="0" err="1"/>
              <a:t>Pctile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E45555-0D8A-1C5B-FD22-354E2A5BC235}"/>
              </a:ext>
            </a:extLst>
          </p:cNvPr>
          <p:cNvSpPr txBox="1"/>
          <p:nvPr/>
        </p:nvSpPr>
        <p:spPr>
          <a:xfrm>
            <a:off x="1647951" y="2748688"/>
            <a:ext cx="6166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Alpha Momentum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4E524-59E2-C249-15DF-01FD733C21E2}"/>
              </a:ext>
            </a:extLst>
          </p:cNvPr>
          <p:cNvSpPr txBox="1"/>
          <p:nvPr/>
        </p:nvSpPr>
        <p:spPr>
          <a:xfrm>
            <a:off x="1637318" y="3357595"/>
            <a:ext cx="279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1-month Return </a:t>
            </a:r>
            <a:r>
              <a:rPr lang="en-US" dirty="0" err="1"/>
              <a:t>Pctile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FF6A6-7123-2278-85D4-202DBAC716E5}"/>
              </a:ext>
            </a:extLst>
          </p:cNvPr>
          <p:cNvSpPr txBox="1"/>
          <p:nvPr/>
        </p:nvSpPr>
        <p:spPr>
          <a:xfrm>
            <a:off x="4501095" y="4030579"/>
            <a:ext cx="467813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P/E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คาดการณ์ในอีก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12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เดือนข้างหน้า (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NTM Forward P/E)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FDC1F-4FC6-226A-7B28-E3ADC42F69FE}"/>
              </a:ext>
            </a:extLst>
          </p:cNvPr>
          <p:cNvSpPr txBox="1"/>
          <p:nvPr/>
        </p:nvSpPr>
        <p:spPr>
          <a:xfrm>
            <a:off x="1619596" y="4550374"/>
            <a:ext cx="3111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Forward P/E </a:t>
            </a:r>
            <a:r>
              <a:rPr lang="en-US" dirty="0" err="1"/>
              <a:t>Pctile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1F68B94-7EE3-B1B4-EB2C-2666E5BF46B7}"/>
                  </a:ext>
                </a:extLst>
              </p:cNvPr>
              <p:cNvSpPr txBox="1"/>
              <p:nvPr/>
            </p:nvSpPr>
            <p:spPr>
              <a:xfrm>
                <a:off x="4646375" y="1448808"/>
                <a:ext cx="3951834" cy="568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th-TH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จำนวนนักวิเคราะห์ที่ปรับกำไรเพิ่มขึ้น </m:t>
                          </m:r>
                          <m:r>
                            <m:rPr>
                              <m:nor/>
                            </m:rPr>
                            <a:rPr lang="en-US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th-TH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ลดลง ในรอบ </m:t>
                          </m:r>
                          <m:r>
                            <m:rPr>
                              <m:nor/>
                            </m:rPr>
                            <a:rPr lang="en-US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3 </m:t>
                          </m:r>
                          <m:r>
                            <m:rPr>
                              <m:nor/>
                            </m:rPr>
                            <a:rPr lang="th-TH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เดือน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th-TH" dirty="0" smtClean="0">
                              <a:latin typeface="BrowalliaUPC" panose="020B0604020202020204" pitchFamily="34" charset="-34"/>
                              <a:cs typeface="BrowalliaUPC" panose="020B0604020202020204" pitchFamily="34" charset="-34"/>
                            </a:rPr>
                            <m:t>จำนวนนักวิเคราห์ที่ปรับประมาณการทั้งหมด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BrowalliaUPC" panose="020B0604020202020204" pitchFamily="34" charset="-34"/>
                  <a:cs typeface="BrowalliaUPC" panose="020B0604020202020204" pitchFamily="34" charset="-34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1F68B94-7EE3-B1B4-EB2C-2666E5BF4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375" y="1448808"/>
                <a:ext cx="3951834" cy="568297"/>
              </a:xfrm>
              <a:prstGeom prst="rect">
                <a:avLst/>
              </a:prstGeom>
              <a:blipFill>
                <a:blip r:embed="rId2"/>
                <a:stretch>
                  <a:fillRect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8CB54FF-D0E9-A62C-5C54-25CD088B82E7}"/>
              </a:ext>
            </a:extLst>
          </p:cNvPr>
          <p:cNvSpPr txBox="1"/>
          <p:nvPr/>
        </p:nvSpPr>
        <p:spPr>
          <a:xfrm>
            <a:off x="4501094" y="4473913"/>
            <a:ext cx="445151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 err="1">
                <a:latin typeface="BrowalliaUPC" panose="020B0604020202020204" pitchFamily="34" charset="-34"/>
                <a:cs typeface="BrowalliaUPC" panose="020B0604020202020204" pitchFamily="34" charset="-34"/>
              </a:rPr>
              <a:t>Pctile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rank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Relative NTM FWD P/E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ปัจจุบัน เทียบกับค่า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Relative NTM FWD P/E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รายเดือนย้อนหลัง 5 ปี</a:t>
            </a:r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4237E-8ADB-ECD6-3C9F-B5EC55103836}"/>
              </a:ext>
            </a:extLst>
          </p:cNvPr>
          <p:cNvSpPr txBox="1"/>
          <p:nvPr/>
        </p:nvSpPr>
        <p:spPr>
          <a:xfrm>
            <a:off x="4501095" y="2860174"/>
            <a:ext cx="467813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6-months rolling Alpha calculated by adjusted beta (0.67)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EDF71-EA73-E684-BA2F-FCA2CC19E77E}"/>
              </a:ext>
            </a:extLst>
          </p:cNvPr>
          <p:cNvSpPr txBox="1"/>
          <p:nvPr/>
        </p:nvSpPr>
        <p:spPr>
          <a:xfrm>
            <a:off x="4488754" y="3344527"/>
            <a:ext cx="426178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Percentile Ranking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1-month total return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ปัจจุบัน เทียบกับ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1-month total return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รายเดือนย้อนหลัง 5 ปี </a:t>
            </a:r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3D924C-826E-ED8E-4CE2-E16B1120631E}"/>
              </a:ext>
            </a:extLst>
          </p:cNvPr>
          <p:cNvSpPr txBox="1"/>
          <p:nvPr/>
        </p:nvSpPr>
        <p:spPr>
          <a:xfrm>
            <a:off x="409149" y="241411"/>
            <a:ext cx="2251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Part 1: Explanation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1260AB-AFD6-6E7F-AB34-C7201AD852F4}"/>
              </a:ext>
            </a:extLst>
          </p:cNvPr>
          <p:cNvCxnSpPr/>
          <p:nvPr/>
        </p:nvCxnSpPr>
        <p:spPr>
          <a:xfrm>
            <a:off x="442033" y="811649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764C68B-ED7F-8F23-407A-D75CC9B27067}"/>
              </a:ext>
            </a:extLst>
          </p:cNvPr>
          <p:cNvSpPr txBox="1"/>
          <p:nvPr/>
        </p:nvSpPr>
        <p:spPr>
          <a:xfrm>
            <a:off x="2530472" y="847963"/>
            <a:ext cx="85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4FBB37-B8A5-C8B4-34EF-5EA76F4CBADC}"/>
              </a:ext>
            </a:extLst>
          </p:cNvPr>
          <p:cNvSpPr txBox="1"/>
          <p:nvPr/>
        </p:nvSpPr>
        <p:spPr>
          <a:xfrm>
            <a:off x="4501095" y="2166791"/>
            <a:ext cx="498312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Percentile ranking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Forward EPS MOM% change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ปัจจุบัน เทียบกับค่า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Forward EPS MOM% change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รายเดือนย้อนหลัง 5 ปี</a:t>
            </a:r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86C143-9175-9493-B013-864985E64AA2}"/>
              </a:ext>
            </a:extLst>
          </p:cNvPr>
          <p:cNvSpPr txBox="1"/>
          <p:nvPr/>
        </p:nvSpPr>
        <p:spPr>
          <a:xfrm>
            <a:off x="10923168" y="86924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Ideal</a:t>
            </a:r>
          </a:p>
        </p:txBody>
      </p:sp>
      <p:sp>
        <p:nvSpPr>
          <p:cNvPr id="33" name="Arrow: Up 32">
            <a:extLst>
              <a:ext uri="{FF2B5EF4-FFF2-40B4-BE49-F238E27FC236}">
                <a16:creationId xmlns:a16="http://schemas.microsoft.com/office/drawing/2014/main" id="{DFD4B33D-284A-4D13-CB38-A1BE832488F4}"/>
              </a:ext>
            </a:extLst>
          </p:cNvPr>
          <p:cNvSpPr/>
          <p:nvPr/>
        </p:nvSpPr>
        <p:spPr>
          <a:xfrm>
            <a:off x="11160972" y="1507456"/>
            <a:ext cx="212651" cy="287079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CA13F155-D112-E16D-B5B8-FC0C56C0DF40}"/>
              </a:ext>
            </a:extLst>
          </p:cNvPr>
          <p:cNvSpPr/>
          <p:nvPr/>
        </p:nvSpPr>
        <p:spPr>
          <a:xfrm>
            <a:off x="11171604" y="2232880"/>
            <a:ext cx="212651" cy="287079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C3264852-9F1C-3F82-896F-C6A7EF068CC3}"/>
              </a:ext>
            </a:extLst>
          </p:cNvPr>
          <p:cNvSpPr/>
          <p:nvPr/>
        </p:nvSpPr>
        <p:spPr>
          <a:xfrm>
            <a:off x="11171603" y="2841211"/>
            <a:ext cx="212651" cy="287079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Arrow: Up 35">
            <a:extLst>
              <a:ext uri="{FF2B5EF4-FFF2-40B4-BE49-F238E27FC236}">
                <a16:creationId xmlns:a16="http://schemas.microsoft.com/office/drawing/2014/main" id="{E89E1614-64B8-4644-C8E4-A19E71DD6382}"/>
              </a:ext>
            </a:extLst>
          </p:cNvPr>
          <p:cNvSpPr/>
          <p:nvPr/>
        </p:nvSpPr>
        <p:spPr>
          <a:xfrm rot="10800000">
            <a:off x="11171602" y="3382488"/>
            <a:ext cx="212651" cy="287079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Arrow: Up 36">
            <a:extLst>
              <a:ext uri="{FF2B5EF4-FFF2-40B4-BE49-F238E27FC236}">
                <a16:creationId xmlns:a16="http://schemas.microsoft.com/office/drawing/2014/main" id="{72D9A936-AD53-2493-4396-27F2166E5ECB}"/>
              </a:ext>
            </a:extLst>
          </p:cNvPr>
          <p:cNvSpPr/>
          <p:nvPr/>
        </p:nvSpPr>
        <p:spPr>
          <a:xfrm rot="10800000">
            <a:off x="11171602" y="4035143"/>
            <a:ext cx="212651" cy="287079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8" name="Arrow: Up 37">
            <a:extLst>
              <a:ext uri="{FF2B5EF4-FFF2-40B4-BE49-F238E27FC236}">
                <a16:creationId xmlns:a16="http://schemas.microsoft.com/office/drawing/2014/main" id="{1AC428F6-A1AE-354F-3F09-64CA62E958F9}"/>
              </a:ext>
            </a:extLst>
          </p:cNvPr>
          <p:cNvSpPr/>
          <p:nvPr/>
        </p:nvSpPr>
        <p:spPr>
          <a:xfrm rot="10800000">
            <a:off x="11171602" y="4726725"/>
            <a:ext cx="212651" cy="287079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AAE378-C49D-B47C-7B48-2F639E862BD8}"/>
              </a:ext>
            </a:extLst>
          </p:cNvPr>
          <p:cNvSpPr txBox="1"/>
          <p:nvPr/>
        </p:nvSpPr>
        <p:spPr>
          <a:xfrm>
            <a:off x="9212513" y="873958"/>
            <a:ext cx="163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Rolling Period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2C4F9D-DE49-92B7-ED3A-79F9BA9FDFCB}"/>
              </a:ext>
            </a:extLst>
          </p:cNvPr>
          <p:cNvSpPr txBox="1"/>
          <p:nvPr/>
        </p:nvSpPr>
        <p:spPr>
          <a:xfrm>
            <a:off x="9565560" y="1467265"/>
            <a:ext cx="10166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 months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1 month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90939-C521-F3BD-A035-8104AFD8754A}"/>
              </a:ext>
            </a:extLst>
          </p:cNvPr>
          <p:cNvSpPr txBox="1"/>
          <p:nvPr/>
        </p:nvSpPr>
        <p:spPr>
          <a:xfrm>
            <a:off x="9586826" y="2814528"/>
            <a:ext cx="1016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 months</a:t>
            </a:r>
          </a:p>
          <a:p>
            <a:endParaRPr lang="en-US" sz="1600" dirty="0"/>
          </a:p>
          <a:p>
            <a:r>
              <a:rPr lang="en-US" sz="1600" dirty="0"/>
              <a:t>1 month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DD41CB-99ED-B83C-F61E-31DD9E213DB5}"/>
              </a:ext>
            </a:extLst>
          </p:cNvPr>
          <p:cNvSpPr txBox="1"/>
          <p:nvPr/>
        </p:nvSpPr>
        <p:spPr>
          <a:xfrm>
            <a:off x="9581789" y="3969233"/>
            <a:ext cx="864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Current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B5850C-FFBF-3EA5-A737-A420F4B221F3}"/>
              </a:ext>
            </a:extLst>
          </p:cNvPr>
          <p:cNvSpPr txBox="1"/>
          <p:nvPr/>
        </p:nvSpPr>
        <p:spPr>
          <a:xfrm>
            <a:off x="563445" y="5376010"/>
            <a:ext cx="108208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Noted: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จริงอยู่ที่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1M return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เป็น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momentum factor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ถ้าค่ายิ่งน้อยควรหมายถึงยิ่งไม่ดี แต่เราเชื่อใน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Short term revert, long term growth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สำหรับหุ้นที่มี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earnings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revision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ที่ดี (ซึ่งมี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weight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มากที่สุด) ดังนั้นจึงให้คะแนนเพิ่มขึ้นสำหรับ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1M return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ที่ลดลง</a:t>
            </a:r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Noted: Rolling Period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ที่ใช้คำนวณอยู่ระหว่าง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1-6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เดือน เนื่องจากมีค่าใกล้เคียงกับรอบ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rebalance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(ทุก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3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เดือน) ซึ่งคาดว่าจะช่วยลดการให้สัญญาณคัดเลือกหุ้นที่มี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noise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หรือ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lag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ได้</a:t>
            </a:r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A2EBE8-3B85-DAC5-479E-BBA783B1C759}"/>
              </a:ext>
            </a:extLst>
          </p:cNvPr>
          <p:cNvSpPr txBox="1"/>
          <p:nvPr/>
        </p:nvSpPr>
        <p:spPr>
          <a:xfrm>
            <a:off x="5913158" y="87395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Definition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92239B-C7BC-A676-C1C9-7EEB643E8F61}"/>
              </a:ext>
            </a:extLst>
          </p:cNvPr>
          <p:cNvCxnSpPr/>
          <p:nvPr/>
        </p:nvCxnSpPr>
        <p:spPr>
          <a:xfrm>
            <a:off x="442033" y="1314150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04AB02D-CDFE-0336-14C4-50EA96EB656D}"/>
              </a:ext>
            </a:extLst>
          </p:cNvPr>
          <p:cNvSpPr txBox="1"/>
          <p:nvPr/>
        </p:nvSpPr>
        <p:spPr>
          <a:xfrm>
            <a:off x="9601713" y="4583665"/>
            <a:ext cx="11438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Current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0A312A7-2BB1-334C-ADFD-00C055C2576F}"/>
              </a:ext>
            </a:extLst>
          </p:cNvPr>
          <p:cNvCxnSpPr/>
          <p:nvPr/>
        </p:nvCxnSpPr>
        <p:spPr>
          <a:xfrm>
            <a:off x="442033" y="5263850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56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D1338-96E2-B248-9633-525D4B9A535D}"/>
              </a:ext>
            </a:extLst>
          </p:cNvPr>
          <p:cNvSpPr txBox="1"/>
          <p:nvPr/>
        </p:nvSpPr>
        <p:spPr>
          <a:xfrm>
            <a:off x="409148" y="209512"/>
            <a:ext cx="4518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 2: Methodology (Flowchart)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559447-4193-B73E-F91A-E10150D333DB}"/>
              </a:ext>
            </a:extLst>
          </p:cNvPr>
          <p:cNvCxnSpPr/>
          <p:nvPr/>
        </p:nvCxnSpPr>
        <p:spPr>
          <a:xfrm>
            <a:off x="442033" y="694686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EC07A83-BAE5-8348-EFFF-683B4F2ABC62}"/>
              </a:ext>
            </a:extLst>
          </p:cNvPr>
          <p:cNvGrpSpPr/>
          <p:nvPr/>
        </p:nvGrpSpPr>
        <p:grpSpPr>
          <a:xfrm>
            <a:off x="2093126" y="889000"/>
            <a:ext cx="8056449" cy="3184156"/>
            <a:chOff x="2093126" y="1016000"/>
            <a:chExt cx="8056449" cy="318415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5054BDE-5EC9-A62C-3380-8D1FD2CE40F0}"/>
                </a:ext>
              </a:extLst>
            </p:cNvPr>
            <p:cNvSpPr/>
            <p:nvPr/>
          </p:nvSpPr>
          <p:spPr>
            <a:xfrm>
              <a:off x="2537342" y="1108154"/>
              <a:ext cx="2328530" cy="5209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คำนวณค่าแต่ละ </a:t>
              </a:r>
              <a:r>
                <a:rPr lang="en-US" sz="24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Factor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9B76086-F73A-723A-36FA-5A7F5C55BFBC}"/>
                </a:ext>
              </a:extLst>
            </p:cNvPr>
            <p:cNvSpPr/>
            <p:nvPr/>
          </p:nvSpPr>
          <p:spPr>
            <a:xfrm>
              <a:off x="2093126" y="2054447"/>
              <a:ext cx="3229950" cy="7602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คำนวณ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Percentile Rank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ของหุ้นแต่ละตัวภายใน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Universe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ในแต่ละ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factor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1B13F8A-C1B2-93B7-CB76-23D00532FE4A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701607" y="1629145"/>
              <a:ext cx="6494" cy="42530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0E9F9EB-FB71-A6B8-C639-9D7A5E3A3A15}"/>
                </a:ext>
              </a:extLst>
            </p:cNvPr>
            <p:cNvSpPr/>
            <p:nvPr/>
          </p:nvSpPr>
          <p:spPr>
            <a:xfrm>
              <a:off x="2097265" y="3239977"/>
              <a:ext cx="3229950" cy="76022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นำค่าที่ได้ไปคูณกับ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Factor Weight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แล้วรวมกันได้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Weight Score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6E44897-376A-5E86-7C5D-223E39BE6D70}"/>
                </a:ext>
              </a:extLst>
            </p:cNvPr>
            <p:cNvCxnSpPr>
              <a:cxnSpLocks/>
              <a:stCxn id="6" idx="2"/>
              <a:endCxn id="16" idx="0"/>
            </p:cNvCxnSpPr>
            <p:nvPr/>
          </p:nvCxnSpPr>
          <p:spPr>
            <a:xfrm>
              <a:off x="3708101" y="2814675"/>
              <a:ext cx="4139" cy="42530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E096DAC-D030-3603-E3CC-472B20E7B055}"/>
                </a:ext>
              </a:extLst>
            </p:cNvPr>
            <p:cNvSpPr/>
            <p:nvPr/>
          </p:nvSpPr>
          <p:spPr>
            <a:xfrm>
              <a:off x="6068220" y="1016000"/>
              <a:ext cx="4081355" cy="73543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Long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หุ้นที่มีคะแนนรวมสูงที่สุด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10%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ของ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Universe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แบบ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Equal weight (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หุ้นละ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2%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จำนวน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50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หุ้น)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7BFD2F5-C365-E6A1-59FD-CE9A25374559}"/>
                </a:ext>
              </a:extLst>
            </p:cNvPr>
            <p:cNvSpPr/>
            <p:nvPr/>
          </p:nvSpPr>
          <p:spPr>
            <a:xfrm>
              <a:off x="6335697" y="2156919"/>
              <a:ext cx="3546399" cy="103134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Backtesting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ย้อนหลัง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5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ปี เทียบกับดัชนี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 (SPX Index)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 และหุ้นที่มีคะแนนน้อยที่สุด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10% </a:t>
              </a:r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ของ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Universe (Bottom Decile)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FD98D31-DB90-045E-EEF8-7A17C06BC309}"/>
                </a:ext>
              </a:extLst>
            </p:cNvPr>
            <p:cNvSpPr/>
            <p:nvPr/>
          </p:nvSpPr>
          <p:spPr>
            <a:xfrm>
              <a:off x="6486444" y="3436359"/>
              <a:ext cx="3268321" cy="76379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เทียบ </a:t>
              </a:r>
              <a:r>
                <a:rPr lang="en-US" sz="2000" dirty="0">
                  <a:solidFill>
                    <a:schemeClr val="tx1"/>
                  </a:solidFill>
                  <a:latin typeface="BrowalliaUPC" panose="020B0604020202020204" pitchFamily="34" charset="-34"/>
                  <a:cs typeface="BrowalliaUPC" panose="020B0604020202020204" pitchFamily="34" charset="-34"/>
                </a:rPr>
                <a:t>Performance, Sharpe Ratio, Volatility, Max Drawdown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CDAD2A6-5503-608C-922E-1472F3015267}"/>
                </a:ext>
              </a:extLst>
            </p:cNvPr>
            <p:cNvCxnSpPr>
              <a:cxnSpLocks/>
              <a:stCxn id="30" idx="2"/>
              <a:endCxn id="44" idx="0"/>
            </p:cNvCxnSpPr>
            <p:nvPr/>
          </p:nvCxnSpPr>
          <p:spPr>
            <a:xfrm>
              <a:off x="8108897" y="3188268"/>
              <a:ext cx="11708" cy="24809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8CA3B7C2-15CC-2728-C3E1-FE9D451A1E27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5327215" y="1368649"/>
              <a:ext cx="361424" cy="2251442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312EE9C-31BF-AAE3-B51F-A660AED92BDF}"/>
                </a:ext>
              </a:extLst>
            </p:cNvPr>
            <p:cNvCxnSpPr>
              <a:cxnSpLocks/>
            </p:cNvCxnSpPr>
            <p:nvPr/>
          </p:nvCxnSpPr>
          <p:spPr>
            <a:xfrm>
              <a:off x="5688639" y="1374315"/>
              <a:ext cx="365563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1AC3272-5017-629F-8718-386E9F273C2C}"/>
                </a:ext>
              </a:extLst>
            </p:cNvPr>
            <p:cNvCxnSpPr>
              <a:cxnSpLocks/>
              <a:stCxn id="20" idx="2"/>
              <a:endCxn id="30" idx="0"/>
            </p:cNvCxnSpPr>
            <p:nvPr/>
          </p:nvCxnSpPr>
          <p:spPr>
            <a:xfrm flipH="1">
              <a:off x="8108897" y="1751431"/>
              <a:ext cx="1" cy="40548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4" name="Picture 83" descr="A screenshot of a graph&#10;&#10;AI-generated content may be incorrect.">
            <a:extLst>
              <a:ext uri="{FF2B5EF4-FFF2-40B4-BE49-F238E27FC236}">
                <a16:creationId xmlns:a16="http://schemas.microsoft.com/office/drawing/2014/main" id="{BCCD8279-79D4-8AB1-13DF-B67B0D58D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244" y="4175680"/>
            <a:ext cx="5070556" cy="249840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618F907-401D-CF5C-1782-C95009F8B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108"/>
          <a:stretch>
            <a:fillRect/>
          </a:stretch>
        </p:blipFill>
        <p:spPr>
          <a:xfrm>
            <a:off x="914912" y="4170326"/>
            <a:ext cx="4735626" cy="2521964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6FEF2CD-6E3D-E550-9DE7-25AF5DB5A60E}"/>
              </a:ext>
            </a:extLst>
          </p:cNvPr>
          <p:cNvSpPr txBox="1"/>
          <p:nvPr/>
        </p:nvSpPr>
        <p:spPr>
          <a:xfrm>
            <a:off x="8108896" y="1624431"/>
            <a:ext cx="3388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3 month rebalance</a:t>
            </a:r>
          </a:p>
        </p:txBody>
      </p:sp>
    </p:spTree>
    <p:extLst>
      <p:ext uri="{BB962C8B-B14F-4D97-AF65-F5344CB8AC3E}">
        <p14:creationId xmlns:p14="http://schemas.microsoft.com/office/powerpoint/2010/main" val="103501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E5887761-4BD3-510B-6BE0-8936127D1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2" y="5373012"/>
            <a:ext cx="5761543" cy="136808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87185CF-0EDF-67B4-0917-C18E9D5BF2C8}"/>
              </a:ext>
            </a:extLst>
          </p:cNvPr>
          <p:cNvGrpSpPr/>
          <p:nvPr/>
        </p:nvGrpSpPr>
        <p:grpSpPr>
          <a:xfrm>
            <a:off x="409149" y="1023460"/>
            <a:ext cx="9507961" cy="4193001"/>
            <a:chOff x="406788" y="350874"/>
            <a:chExt cx="12122746" cy="55848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D1A3433-DB3E-A814-D2A1-B06610FF6A3A}"/>
                </a:ext>
              </a:extLst>
            </p:cNvPr>
            <p:cNvGrpSpPr/>
            <p:nvPr/>
          </p:nvGrpSpPr>
          <p:grpSpPr>
            <a:xfrm>
              <a:off x="406788" y="350874"/>
              <a:ext cx="9906640" cy="5584812"/>
              <a:chOff x="406788" y="350874"/>
              <a:chExt cx="9906640" cy="558481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FC179E2-F44E-2A2E-405C-700B63EF4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803"/>
              <a:stretch>
                <a:fillRect/>
              </a:stretch>
            </p:blipFill>
            <p:spPr>
              <a:xfrm>
                <a:off x="406788" y="350874"/>
                <a:ext cx="9783540" cy="5584812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A09AC7-B8E2-91B0-8EE3-005EAB33AC92}"/>
                  </a:ext>
                </a:extLst>
              </p:cNvPr>
              <p:cNvSpPr/>
              <p:nvPr/>
            </p:nvSpPr>
            <p:spPr>
              <a:xfrm>
                <a:off x="9399028" y="690880"/>
                <a:ext cx="914400" cy="47955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411985-BCCF-C3D7-EF5F-3701F375EBDF}"/>
                </a:ext>
              </a:extLst>
            </p:cNvPr>
            <p:cNvSpPr txBox="1"/>
            <p:nvPr/>
          </p:nvSpPr>
          <p:spPr>
            <a:xfrm>
              <a:off x="9399028" y="806029"/>
              <a:ext cx="3130506" cy="40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Top rank 5% (25 stocks)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1D8A20-D44F-F694-26C3-39144BBB90DB}"/>
                </a:ext>
              </a:extLst>
            </p:cNvPr>
            <p:cNvSpPr txBox="1"/>
            <p:nvPr/>
          </p:nvSpPr>
          <p:spPr>
            <a:xfrm>
              <a:off x="9399027" y="1259730"/>
              <a:ext cx="2978837" cy="40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Top rank 10% (50 stocks)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BC616-5FFC-7AEF-2B36-8F12F9CCF776}"/>
                </a:ext>
              </a:extLst>
            </p:cNvPr>
            <p:cNvSpPr txBox="1"/>
            <p:nvPr/>
          </p:nvSpPr>
          <p:spPr>
            <a:xfrm>
              <a:off x="9419346" y="1769014"/>
              <a:ext cx="2978837" cy="450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Benchmark (SPX Index)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D809F8-F530-6AA0-C2DB-224E3C974502}"/>
                </a:ext>
              </a:extLst>
            </p:cNvPr>
            <p:cNvSpPr txBox="1"/>
            <p:nvPr/>
          </p:nvSpPr>
          <p:spPr>
            <a:xfrm>
              <a:off x="9426117" y="2222714"/>
              <a:ext cx="2873551" cy="40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Bottom 10% (50 stocks)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EA5B3B-C283-89DA-A60B-99B1BA13AA97}"/>
                </a:ext>
              </a:extLst>
            </p:cNvPr>
            <p:cNvSpPr txBox="1"/>
            <p:nvPr/>
          </p:nvSpPr>
          <p:spPr>
            <a:xfrm>
              <a:off x="9430146" y="2722296"/>
              <a:ext cx="2978837" cy="423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Bottom 5% (25 stocks)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22C499-22A1-DC2C-029E-E1925367C20B}"/>
              </a:ext>
            </a:extLst>
          </p:cNvPr>
          <p:cNvGrpSpPr/>
          <p:nvPr/>
        </p:nvGrpSpPr>
        <p:grpSpPr>
          <a:xfrm>
            <a:off x="4711942" y="5342975"/>
            <a:ext cx="2664740" cy="1428164"/>
            <a:chOff x="4890976" y="4997303"/>
            <a:chExt cx="2772892" cy="148612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6092079-4F8A-894A-7313-80479B8A8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4017" y="5074644"/>
              <a:ext cx="909851" cy="1243849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C6F1E5-DCCF-4E71-F1EE-E32864375E11}"/>
                </a:ext>
              </a:extLst>
            </p:cNvPr>
            <p:cNvSpPr/>
            <p:nvPr/>
          </p:nvSpPr>
          <p:spPr>
            <a:xfrm>
              <a:off x="4890976" y="4997303"/>
              <a:ext cx="818707" cy="148612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53A2FB-8BD6-1B33-6783-5EB1B1039458}"/>
              </a:ext>
            </a:extLst>
          </p:cNvPr>
          <p:cNvSpPr txBox="1"/>
          <p:nvPr/>
        </p:nvSpPr>
        <p:spPr>
          <a:xfrm>
            <a:off x="7884318" y="4832516"/>
            <a:ext cx="39361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แม้ว่าจำนวนหุ้นในพอร์ต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5</a:t>
            </a:r>
            <a:r>
              <a:rPr lang="en-US" sz="2000" baseline="30000" dirty="0">
                <a:latin typeface="BrowalliaUPC" panose="020B0604020202020204" pitchFamily="34" charset="-34"/>
                <a:cs typeface="BrowalliaUPC" panose="020B0604020202020204" pitchFamily="34" charset="-34"/>
              </a:rPr>
              <a:t>th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(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high conviction)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ลดลง เมื่อเทียบกับ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decile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แต่ค่าความผันผวนยังคงใกล้เคียงเดิม และได้ผลตอบแทนที่สูงขึ้น สะท้อนผ่านค่า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Sharpe Ratio</a:t>
            </a: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C851450B-492E-0132-4ABF-BCE7D908FE99}"/>
              </a:ext>
            </a:extLst>
          </p:cNvPr>
          <p:cNvSpPr/>
          <p:nvPr/>
        </p:nvSpPr>
        <p:spPr>
          <a:xfrm>
            <a:off x="9771689" y="1243306"/>
            <a:ext cx="308344" cy="187057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64576C-840F-2C38-FAAE-3CCF876F3AA4}"/>
              </a:ext>
            </a:extLst>
          </p:cNvPr>
          <p:cNvSpPr txBox="1"/>
          <p:nvPr/>
        </p:nvSpPr>
        <p:spPr>
          <a:xfrm>
            <a:off x="7897607" y="3232085"/>
            <a:ext cx="410773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จาก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Equity curve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จะเห็นว่าผลตอบแทนย้อนหลัง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5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ปี </a:t>
            </a:r>
          </a:p>
          <a:p>
            <a:pPr algn="just"/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จากน้อยที่สุดคือกลุ่มที่มีคะแนน 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factor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รวมต่ำที่สุด (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bottom rank)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ซึ่งให้ผลตอบแทนต่ำกว่าดัชนีอ้างอิง</a:t>
            </a:r>
          </a:p>
          <a:p>
            <a:pPr algn="just"/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และกลุ่มที่มีคะแนนรวมที่สุด (</a:t>
            </a:r>
            <a:r>
              <a:rPr lang="en-US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rank) </a:t>
            </a:r>
            <a:r>
              <a:rPr lang="th-TH" sz="20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ให้ผลตอบแทนสูงกว่าดัชนีอ้างอิง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872E67-3EE4-54E8-1DA0-CCD8D92BC137}"/>
              </a:ext>
            </a:extLst>
          </p:cNvPr>
          <p:cNvSpPr txBox="1"/>
          <p:nvPr/>
        </p:nvSpPr>
        <p:spPr>
          <a:xfrm>
            <a:off x="409149" y="209511"/>
            <a:ext cx="4302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 3: Result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DB3D21-C9A6-7D63-1ECE-F595AF4A2CAF}"/>
              </a:ext>
            </a:extLst>
          </p:cNvPr>
          <p:cNvCxnSpPr/>
          <p:nvPr/>
        </p:nvCxnSpPr>
        <p:spPr>
          <a:xfrm>
            <a:off x="442033" y="694686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DE5B1A-8C01-3715-F1E2-F7B7D6246FB2}"/>
              </a:ext>
            </a:extLst>
          </p:cNvPr>
          <p:cNvSpPr txBox="1"/>
          <p:nvPr/>
        </p:nvSpPr>
        <p:spPr>
          <a:xfrm>
            <a:off x="7443745" y="6124808"/>
            <a:ext cx="4716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Noted: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ผลตอบแทนรวม (</a:t>
            </a:r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Total Return)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 </a:t>
            </a:r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SPX Index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คือ</a:t>
            </a:r>
          </a:p>
          <a:p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109.26%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ซึ่งยังคงน้อยกว่า </a:t>
            </a:r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Price Return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 </a:t>
            </a:r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Decile </a:t>
            </a:r>
            <a:r>
              <a:rPr lang="th-TH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และ </a:t>
            </a:r>
            <a:r>
              <a:rPr lang="en-US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5</a:t>
            </a:r>
            <a:r>
              <a:rPr lang="en-US" baseline="30000" dirty="0">
                <a:latin typeface="BrowalliaUPC" panose="020B0604020202020204" pitchFamily="34" charset="-34"/>
                <a:cs typeface="BrowalliaUPC" panose="020B0604020202020204" pitchFamily="34" charset="-34"/>
              </a:rPr>
              <a:t>th</a:t>
            </a:r>
            <a:endParaRPr lang="en-US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AB72F-9E82-D555-1474-4CFEF760B065}"/>
              </a:ext>
            </a:extLst>
          </p:cNvPr>
          <p:cNvSpPr txBox="1"/>
          <p:nvPr/>
        </p:nvSpPr>
        <p:spPr>
          <a:xfrm>
            <a:off x="6376588" y="845411"/>
            <a:ext cx="3284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2020-10-23 to 2025-10-23 (5 Years)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E53ED5-95EC-F2D1-6387-4F4618223583}"/>
              </a:ext>
            </a:extLst>
          </p:cNvPr>
          <p:cNvSpPr/>
          <p:nvPr/>
        </p:nvSpPr>
        <p:spPr>
          <a:xfrm>
            <a:off x="2565400" y="5342975"/>
            <a:ext cx="953741" cy="14281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5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A7FC47-696A-102E-4C15-92B28A4917A2}"/>
              </a:ext>
            </a:extLst>
          </p:cNvPr>
          <p:cNvSpPr txBox="1"/>
          <p:nvPr/>
        </p:nvSpPr>
        <p:spPr>
          <a:xfrm>
            <a:off x="409149" y="209511"/>
            <a:ext cx="4302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 4: Pros &amp; Cons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714546-B5D4-735D-BE61-84F2697A9894}"/>
              </a:ext>
            </a:extLst>
          </p:cNvPr>
          <p:cNvCxnSpPr/>
          <p:nvPr/>
        </p:nvCxnSpPr>
        <p:spPr>
          <a:xfrm>
            <a:off x="442033" y="694686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7F0712-D31C-1A5F-E62E-0E7F72BF154C}"/>
              </a:ext>
            </a:extLst>
          </p:cNvPr>
          <p:cNvSpPr txBox="1"/>
          <p:nvPr/>
        </p:nvSpPr>
        <p:spPr>
          <a:xfrm>
            <a:off x="266700" y="1435386"/>
            <a:ext cx="5829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Transparency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อธิบายที่มาของ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factor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และ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Weight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ได้ง่าย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/>
              <a:t>วิธีคำนวณเข้าใจง่าย ตรงไปตรงมา สื่อสารกับนักลงทุนได้ไม่ยาก</a:t>
            </a:r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65290-5A95-E3D1-2690-47FABC3ECB91}"/>
              </a:ext>
            </a:extLst>
          </p:cNvPr>
          <p:cNvSpPr txBox="1"/>
          <p:nvPr/>
        </p:nvSpPr>
        <p:spPr>
          <a:xfrm>
            <a:off x="6327066" y="1460786"/>
            <a:ext cx="563633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Market risk</a:t>
            </a:r>
            <a:r>
              <a:rPr lang="th-TH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 (</a:t>
            </a:r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beta exposure), No short exposure: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มีโอกาสให้ผลตอบแทนเป็นลบหากตลาดปรับตัวลดลงในปีนั้น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ไม่สามารถสร้าง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alpha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ได้ชัดเจนในตลาดขาลง</a:t>
            </a:r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Lagging Information:</a:t>
            </a:r>
            <a:endParaRPr lang="th-TH" sz="2400" b="1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หากราคาหุ้นปรับตัวลดลงอย่างรุนแรงเนื่องจากปัจจัยพื้นฐานที่เปลี่ยนไป แต่นักวิเคราะห์ส่วนใหญ่ปรับประมาณการกำไรหลังจากรอบ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Rebalance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ของพอร์ตไปแล้ว อาจทำให้โมเดลเข้าลงทุนในหุ้นที่ให้ผลตอบแทนต่ำกว่าตลาด</a:t>
            </a:r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endParaRPr lang="en-US" sz="20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2C536-7810-A8D3-C88C-8163AD7B7023}"/>
              </a:ext>
            </a:extLst>
          </p:cNvPr>
          <p:cNvCxnSpPr>
            <a:cxnSpLocks/>
          </p:cNvCxnSpPr>
          <p:nvPr/>
        </p:nvCxnSpPr>
        <p:spPr>
          <a:xfrm>
            <a:off x="6096000" y="1016000"/>
            <a:ext cx="0" cy="5207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F82434-A655-5355-A90F-13E04A0FD85F}"/>
              </a:ext>
            </a:extLst>
          </p:cNvPr>
          <p:cNvSpPr txBox="1"/>
          <p:nvPr/>
        </p:nvSpPr>
        <p:spPr>
          <a:xfrm>
            <a:off x="8765466" y="850612"/>
            <a:ext cx="1153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Cons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7CCCDD-7960-3EC8-CDE4-0CAB023CDFB6}"/>
              </a:ext>
            </a:extLst>
          </p:cNvPr>
          <p:cNvSpPr txBox="1"/>
          <p:nvPr/>
        </p:nvSpPr>
        <p:spPr>
          <a:xfrm>
            <a:off x="2705100" y="850611"/>
            <a:ext cx="1155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Pros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AE54D3-44F4-6B42-66BE-B101C3B44033}"/>
              </a:ext>
            </a:extLst>
          </p:cNvPr>
          <p:cNvSpPr txBox="1"/>
          <p:nvPr/>
        </p:nvSpPr>
        <p:spPr>
          <a:xfrm>
            <a:off x="228600" y="3293852"/>
            <a:ext cx="4483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Less Implementation Risk</a:t>
            </a:r>
            <a:endParaRPr lang="th-TH" sz="2400" b="1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ไม่ต้องกังวลเรื่องสภาพคล่องมาก เนื่องจาก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universe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เป็นหุ้นที่มี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market cap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ค่อนข้างสูง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E9F40-50C5-47CE-9307-B308A17D1F00}"/>
              </a:ext>
            </a:extLst>
          </p:cNvPr>
          <p:cNvSpPr txBox="1"/>
          <p:nvPr/>
        </p:nvSpPr>
        <p:spPr>
          <a:xfrm>
            <a:off x="234950" y="27811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High Sharpe Ratio: </a:t>
            </a:r>
            <a:r>
              <a:rPr lang="en-US" sz="2400" dirty="0" err="1">
                <a:latin typeface="BrowalliaUPC" panose="020B0604020202020204" pitchFamily="34" charset="-34"/>
                <a:cs typeface="BrowalliaUPC" panose="020B0604020202020204" pitchFamily="34" charset="-34"/>
              </a:rPr>
              <a:t>backtesting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มีความผันผวนต่ำกว่าตลาด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DAC676-14B9-9BA5-7A72-2463F943D59C}"/>
              </a:ext>
            </a:extLst>
          </p:cNvPr>
          <p:cNvSpPr txBox="1"/>
          <p:nvPr/>
        </p:nvSpPr>
        <p:spPr>
          <a:xfrm>
            <a:off x="266699" y="4537230"/>
            <a:ext cx="55982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All Rounder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Momentum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ทำงานได้ดีในตลาดขาขึ้น</a:t>
            </a:r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Earnings Revision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สะท้อนมุมมองเชิงบวกจากนักวิเคราะห์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สร้างผลตอบแทนได้แม้ตลาดอยู่ในภาวะ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sideways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Valuation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ช่วยจำกัด </a:t>
            </a:r>
            <a:r>
              <a:rPr lang="en-US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downside </a:t>
            </a:r>
            <a:r>
              <a:rPr lang="th-TH" sz="24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ในภาวะตลาดขาลง</a:t>
            </a:r>
            <a:endParaRPr lang="en-US" sz="24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4411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5E654-6724-1607-0BBD-FAE45EFDDF28}"/>
              </a:ext>
            </a:extLst>
          </p:cNvPr>
          <p:cNvSpPr txBox="1"/>
          <p:nvPr/>
        </p:nvSpPr>
        <p:spPr>
          <a:xfrm>
            <a:off x="409149" y="209512"/>
            <a:ext cx="476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Part 5: Recommendation &amp; Consideration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64F4B2-C017-BC6C-FE23-46A015DA707C}"/>
              </a:ext>
            </a:extLst>
          </p:cNvPr>
          <p:cNvCxnSpPr/>
          <p:nvPr/>
        </p:nvCxnSpPr>
        <p:spPr>
          <a:xfrm>
            <a:off x="442033" y="694686"/>
            <a:ext cx="11307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535AF0D-189F-017B-01D9-9A57CEAE13DF}"/>
              </a:ext>
            </a:extLst>
          </p:cNvPr>
          <p:cNvSpPr txBox="1"/>
          <p:nvPr/>
        </p:nvSpPr>
        <p:spPr>
          <a:xfrm>
            <a:off x="442033" y="845909"/>
            <a:ext cx="111784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Recommendation</a:t>
            </a:r>
          </a:p>
          <a:p>
            <a:pPr algn="just"/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1.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คำนวณ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Total Return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ของพอร์ตแทน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Price Return</a:t>
            </a:r>
          </a:p>
          <a:p>
            <a:pPr algn="just"/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2.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รัน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regression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เทียบกับ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Fama-French Model</a:t>
            </a:r>
            <a:endParaRPr lang="th-TH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algn="just"/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เนื่องจากทั้งคู่เป็น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factor model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และมี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factor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บางส่วนใกล้เคียงกัน (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Valuation, Momentum)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เพื่อดูว่าโมเดลมี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alpha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อย่างมีนัยสำคัญหรือไม่</a:t>
            </a:r>
          </a:p>
          <a:p>
            <a:pPr algn="just"/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3. Long Short Strategy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endParaRPr lang="en-US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long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หุ้น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top decile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และ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short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หุ้น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bottom decile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โดยคาดหวังว่า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Sharpe ratio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จะสูงกว่ากลยุทธ์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long-only</a:t>
            </a:r>
            <a:endParaRPr lang="th-TH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ทั้งนี้อาจต้องปรับปรุงบาง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factor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(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momentum)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เพื่อลดระดับ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drawdown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หากตลาดมีค่าความผันผวนสูง</a:t>
            </a:r>
            <a:endParaRPr lang="en-US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algn="just"/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4. Dynamic Weighting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(จากเดิม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Equal Weight)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โดยอาจปรับตาม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Overall score, volatility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ของตลาดกับหุ้น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,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หรือ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AI-based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B4B8D-286D-06AE-6565-42B6E1DDC431}"/>
              </a:ext>
            </a:extLst>
          </p:cNvPr>
          <p:cNvSpPr txBox="1"/>
          <p:nvPr/>
        </p:nvSpPr>
        <p:spPr>
          <a:xfrm>
            <a:off x="409149" y="3914258"/>
            <a:ext cx="111784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h-TH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จุดขายหลักของกลยุทธ์ (</a:t>
            </a:r>
            <a:r>
              <a:rPr lang="en-US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S&amp;P 500 – 2026)</a:t>
            </a:r>
            <a:endParaRPr lang="th-TH" sz="2200" b="1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algn="just"/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ตลาดปีหน้ายังมีแนวโน้มผันผวนสูงจากปัจจัยการเมือง (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Donald Trump)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ถ้าแบ่ง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return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ของตลาดในปีหน้าออกเป็น</a:t>
            </a:r>
            <a:endParaRPr lang="en-US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Bull market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(เหมือนปีนี้)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: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ผล </a:t>
            </a:r>
            <a:r>
              <a:rPr lang="en-US" sz="2200" dirty="0" err="1">
                <a:latin typeface="BrowalliaUPC" panose="020B0604020202020204" pitchFamily="34" charset="-34"/>
                <a:cs typeface="BrowalliaUPC" panose="020B0604020202020204" pitchFamily="34" charset="-34"/>
              </a:rPr>
              <a:t>backtest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สะท้อนให้เห็นว่า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model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ชนะตลาดอย่างต่อเนื่องในตลาดขาขึ้น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Sideways: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จากผล </a:t>
            </a:r>
            <a:r>
              <a:rPr lang="en-US" sz="2200" dirty="0" err="1">
                <a:latin typeface="BrowalliaUPC" panose="020B0604020202020204" pitchFamily="34" charset="-34"/>
                <a:cs typeface="BrowalliaUPC" panose="020B0604020202020204" pitchFamily="34" charset="-34"/>
              </a:rPr>
              <a:t>backtest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model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มี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volatility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น้อยกว่าตลาด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จึงคาดว่าจะให้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Sharpe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ratio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ที่ดีกว่า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Bear market: model return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อาจติดลบ แต่คาดว่าจะชนะตลาด ทั้งนี้อาจปรับไปใช้กลยุทธ์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long short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เพื่อจำกัด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downside</a:t>
            </a:r>
            <a:endParaRPr lang="th-TH" sz="2200" dirty="0">
              <a:latin typeface="BrowalliaUPC" panose="020B0604020202020204" pitchFamily="34" charset="-34"/>
              <a:cs typeface="BrowalliaUPC" panose="020B0604020202020204" pitchFamily="34" charset="-34"/>
            </a:endParaRPr>
          </a:p>
          <a:p>
            <a:pPr algn="just"/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ดังนั้นไม่ว่าผลตอบแทนตลาดจะเป็นอย่างไร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แต่โมเดลที่มีปัจจัยหลักคือ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Earnings Revision, Momentum, Valuation </a:t>
            </a:r>
          </a:p>
          <a:p>
            <a:pPr algn="just"/>
            <a:r>
              <a:rPr lang="th-TH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น่าจะสามารถชนะตลาดได้ในทุกสภาวะ ภายใต้ </a:t>
            </a:r>
            <a:r>
              <a:rPr lang="en-US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volatility </a:t>
            </a:r>
            <a:r>
              <a:rPr lang="th-TH" sz="2200" b="1" dirty="0">
                <a:latin typeface="BrowalliaUPC" panose="020B0604020202020204" pitchFamily="34" charset="-34"/>
                <a:cs typeface="BrowalliaUPC" panose="020B0604020202020204" pitchFamily="34" charset="-34"/>
              </a:rPr>
              <a:t>ของตลาดที่สูง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(จาก </a:t>
            </a:r>
            <a:r>
              <a:rPr lang="en-US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Pros </a:t>
            </a:r>
            <a:r>
              <a:rPr lang="th-TH" sz="2200" dirty="0">
                <a:latin typeface="BrowalliaUPC" panose="020B0604020202020204" pitchFamily="34" charset="-34"/>
                <a:cs typeface="BrowalliaUPC" panose="020B0604020202020204" pitchFamily="34" charset="-34"/>
              </a:rPr>
              <a:t>สไลด์ก่อนหน้า)</a:t>
            </a:r>
          </a:p>
        </p:txBody>
      </p:sp>
    </p:spTree>
    <p:extLst>
      <p:ext uri="{BB962C8B-B14F-4D97-AF65-F5344CB8AC3E}">
        <p14:creationId xmlns:p14="http://schemas.microsoft.com/office/powerpoint/2010/main" val="367486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1212</Words>
  <Application>Microsoft Office PowerPoint</Application>
  <PresentationFormat>Widescreen</PresentationFormat>
  <Paragraphs>129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BrowalliaUPC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Jetnipat  Nipatkusolkit</dc:creator>
  <cp:lastModifiedBy>Jetnipat  Nipatkusolkit</cp:lastModifiedBy>
  <cp:revision>20</cp:revision>
  <dcterms:created xsi:type="dcterms:W3CDTF">2025-11-09T14:28:08Z</dcterms:created>
  <dcterms:modified xsi:type="dcterms:W3CDTF">2025-11-10T10:10:50Z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2de115-e53f-4f1a-9462-2b3bf83ef33f_Enabled">
    <vt:lpwstr>true</vt:lpwstr>
  </property>
  <property fmtid="{D5CDD505-2E9C-101B-9397-08002B2CF9AE}" pid="3" name="MSIP_Label_0f2de115-e53f-4f1a-9462-2b3bf83ef33f_SetDate">
    <vt:lpwstr>2025-11-09T15:38:18Z</vt:lpwstr>
  </property>
  <property fmtid="{D5CDD505-2E9C-101B-9397-08002B2CF9AE}" pid="4" name="MSIP_Label_0f2de115-e53f-4f1a-9462-2b3bf83ef33f_Method">
    <vt:lpwstr>Privileged</vt:lpwstr>
  </property>
  <property fmtid="{D5CDD505-2E9C-101B-9397-08002B2CF9AE}" pid="5" name="MSIP_Label_0f2de115-e53f-4f1a-9462-2b3bf83ef33f_Name">
    <vt:lpwstr>General</vt:lpwstr>
  </property>
  <property fmtid="{D5CDD505-2E9C-101B-9397-08002B2CF9AE}" pid="6" name="MSIP_Label_0f2de115-e53f-4f1a-9462-2b3bf83ef33f_SiteId">
    <vt:lpwstr>d94db576-9d97-4b16-be80-78bb06a131b9</vt:lpwstr>
  </property>
  <property fmtid="{D5CDD505-2E9C-101B-9397-08002B2CF9AE}" pid="7" name="MSIP_Label_0f2de115-e53f-4f1a-9462-2b3bf83ef33f_ActionId">
    <vt:lpwstr>c892a594-d5c4-4dd0-a66e-72573200be40</vt:lpwstr>
  </property>
  <property fmtid="{D5CDD505-2E9C-101B-9397-08002B2CF9AE}" pid="8" name="MSIP_Label_0f2de115-e53f-4f1a-9462-2b3bf83ef33f_ContentBits">
    <vt:lpwstr>0</vt:lpwstr>
  </property>
  <property fmtid="{D5CDD505-2E9C-101B-9397-08002B2CF9AE}" pid="9" name="MSIP_Label_0f2de115-e53f-4f1a-9462-2b3bf83ef33f_Tag">
    <vt:lpwstr>10, 0, 1, 1</vt:lpwstr>
  </property>
</Properties>
</file>